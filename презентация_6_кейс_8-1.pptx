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60" r:id="rId4"/>
    <p:sldId id="270" r:id="rId5"/>
    <p:sldId id="263" r:id="rId6"/>
    <p:sldId id="285" r:id="rId7"/>
    <p:sldId id="265" r:id="rId8"/>
    <p:sldId id="267" r:id="rId9"/>
    <p:sldId id="286" r:id="rId10"/>
    <p:sldId id="287" r:id="rId11"/>
    <p:sldId id="290" r:id="rId12"/>
    <p:sldId id="291" r:id="rId13"/>
    <p:sldId id="293" r:id="rId14"/>
    <p:sldId id="294" r:id="rId15"/>
    <p:sldId id="295" r:id="rId16"/>
    <p:sldId id="297" r:id="rId17"/>
    <p:sldId id="289" r:id="rId18"/>
    <p:sldId id="292" r:id="rId19"/>
    <p:sldId id="27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9271"/>
    <a:srgbClr val="CBEB95"/>
    <a:srgbClr val="FAF6F2"/>
    <a:srgbClr val="313037"/>
    <a:srgbClr val="CBEC95"/>
    <a:srgbClr val="1F3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72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7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8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01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36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116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95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75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65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33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884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69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79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720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BEC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13A2C82-12C0-B40A-DE82-2018E7CF0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" y="972487"/>
            <a:ext cx="3839168" cy="5846475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круг, диаграмма, снимок экрана, астроном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BB49596-2049-66EF-0514-739A237BC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715" y="-1958832"/>
            <a:ext cx="8366941" cy="7951917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684521" y="4333875"/>
            <a:ext cx="326898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ru-RU" sz="1350" dirty="0">
                <a:latin typeface="Bahnschrift" panose="020B0502040204020203" pitchFamily="34" charset="0"/>
                <a:ea typeface="Gentium Plus" pitchFamily="34" charset="-122"/>
                <a:cs typeface="Gentium Plus" pitchFamily="34" charset="-120"/>
              </a:rPr>
              <a:t>Презе</a:t>
            </a:r>
            <a:r>
              <a:rPr lang="ru-RU" sz="1400" dirty="0">
                <a:latin typeface="Bahnschrift" panose="020B0502040204020203" pitchFamily="34" charset="0"/>
              </a:rPr>
              <a:t>нтация проекта в рамках кейс-чемпионата в университете ИТМО</a:t>
            </a:r>
            <a:endParaRPr lang="en-US" sz="1350" dirty="0">
              <a:latin typeface="Bahnschrift" panose="020B0502040204020203" pitchFamily="34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190500" y="4086225"/>
            <a:ext cx="6234113" cy="676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344"/>
              </a:lnSpc>
              <a:buNone/>
            </a:pPr>
            <a:r>
              <a:rPr lang="ru-RU" sz="4400" kern="0" spc="-225" dirty="0">
                <a:latin typeface="Cascadia Code" panose="020B0609020000020004" pitchFamily="49" charset="0"/>
                <a:ea typeface="Gentium Plus" pitchFamily="34" charset="-122"/>
                <a:cs typeface="Cascadia Code" panose="020B0609020000020004" pitchFamily="49" charset="0"/>
              </a:rPr>
              <a:t>Кома</a:t>
            </a:r>
            <a:r>
              <a:rPr lang="ru-RU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нда </a:t>
            </a:r>
            <a:r>
              <a:rPr lang="ru-RU" sz="4400" dirty="0">
                <a:latin typeface="Bahnschrift" panose="020B0502040204020203" pitchFamily="34" charset="0"/>
                <a:cs typeface="Cascadia Code" panose="020B0609020000020004" pitchFamily="49" charset="0"/>
              </a:rPr>
              <a:t>№</a:t>
            </a:r>
            <a:r>
              <a:rPr lang="ru-RU" sz="4400" dirty="0">
                <a:latin typeface="Cascadia Code" panose="020B0609020000020004" pitchFamily="49" charset="0"/>
                <a:cs typeface="Cascadia Code" panose="020B0609020000020004" pitchFamily="49" charset="0"/>
              </a:rPr>
              <a:t>6</a:t>
            </a:r>
            <a:endParaRPr lang="en-US" sz="4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190499" y="276255"/>
            <a:ext cx="623411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500" kern="0" spc="-225" dirty="0"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so-tag-trends</a:t>
            </a:r>
            <a:endParaRPr lang="en-US" sz="45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32E5D-8A26-CCD8-394A-F4B3FAC8763A}"/>
              </a:ext>
            </a:extLst>
          </p:cNvPr>
          <p:cNvSpPr txBox="1"/>
          <p:nvPr/>
        </p:nvSpPr>
        <p:spPr>
          <a:xfrm>
            <a:off x="191416" y="1383268"/>
            <a:ext cx="6872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ahnschrift" panose="020B0502040204020203" pitchFamily="34" charset="0"/>
                <a:cs typeface="Cascadia Code" panose="020B0609020000020004" pitchFamily="49" charset="0"/>
              </a:rPr>
              <a:t>Тренды вопросов по тегам на </a:t>
            </a:r>
            <a:r>
              <a:rPr lang="ru-RU" dirty="0" err="1">
                <a:latin typeface="Bahnschrift" panose="020B0502040204020203" pitchFamily="34" charset="0"/>
                <a:cs typeface="Cascadia Code" panose="020B0609020000020004" pitchFamily="49" charset="0"/>
              </a:rPr>
              <a:t>Stack</a:t>
            </a:r>
            <a:r>
              <a:rPr lang="ru-RU" dirty="0">
                <a:latin typeface="Bahnschrift" panose="020B0502040204020203" pitchFamily="34" charset="0"/>
                <a:cs typeface="Cascadia Code" panose="020B0609020000020004" pitchFamily="49" charset="0"/>
              </a:rPr>
              <a:t> </a:t>
            </a:r>
            <a:r>
              <a:rPr lang="ru-RU" dirty="0" err="1">
                <a:latin typeface="Bahnschrift" panose="020B0502040204020203" pitchFamily="34" charset="0"/>
                <a:cs typeface="Cascadia Code" panose="020B0609020000020004" pitchFamily="49" charset="0"/>
              </a:rPr>
              <a:t>Overflow</a:t>
            </a:r>
            <a:endParaRPr lang="ru-RU" dirty="0">
              <a:latin typeface="Bahnschrift" panose="020B0502040204020203" pitchFamily="34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B4F27-41DC-64B8-61AF-28204AAAF272}"/>
              </a:ext>
            </a:extLst>
          </p:cNvPr>
          <p:cNvSpPr txBox="1"/>
          <p:nvPr/>
        </p:nvSpPr>
        <p:spPr>
          <a:xfrm>
            <a:off x="191416" y="1743105"/>
            <a:ext cx="6872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i="1" dirty="0">
                <a:latin typeface="Bahnschrift" panose="020B0502040204020203" pitchFamily="34" charset="0"/>
                <a:cs typeface="Cascadia Mono SemiBold" panose="020B0609020000020004" pitchFamily="49" charset="0"/>
              </a:rPr>
              <a:t>Кейс</a:t>
            </a:r>
            <a:r>
              <a:rPr lang="ru-RU" sz="1600" i="1" dirty="0">
                <a:latin typeface="Bahnschrift" panose="020B0502040204020203" pitchFamily="34" charset="0"/>
              </a:rPr>
              <a:t> №8</a:t>
            </a:r>
          </a:p>
        </p:txBody>
      </p:sp>
      <p:pic>
        <p:nvPicPr>
          <p:cNvPr id="18" name="Рисунок 17" descr="Изображение выглядит как графическая вставка, иллюстрация, Мультфильм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03E3E53-9EF5-8142-593E-DC7718FDD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783" y="1351126"/>
            <a:ext cx="3671659" cy="25445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AAEA8C2-5CE4-DE12-5718-CDE0DD2E4474}"/>
              </a:ext>
            </a:extLst>
          </p:cNvPr>
          <p:cNvSpPr txBox="1"/>
          <p:nvPr/>
        </p:nvSpPr>
        <p:spPr>
          <a:xfrm>
            <a:off x="191416" y="19637"/>
            <a:ext cx="6034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C53"/>
                </a:solidFill>
              </a:rPr>
              <a:t>____________________________________</a:t>
            </a:r>
            <a:endParaRPr lang="ru-RU" dirty="0">
              <a:solidFill>
                <a:srgbClr val="1F3C53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CF567-BD03-73BD-6C0F-310CCF00D541}"/>
              </a:ext>
            </a:extLst>
          </p:cNvPr>
          <p:cNvSpPr txBox="1"/>
          <p:nvPr/>
        </p:nvSpPr>
        <p:spPr>
          <a:xfrm>
            <a:off x="191416" y="4587610"/>
            <a:ext cx="6034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3C53"/>
                </a:solidFill>
              </a:rPr>
              <a:t>______________________________________________</a:t>
            </a:r>
            <a:endParaRPr lang="ru-RU" dirty="0">
              <a:solidFill>
                <a:srgbClr val="1F3C5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1266825"/>
            <a:ext cx="8763000" cy="33909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190500" y="1266825"/>
            <a:ext cx="8763000" cy="5810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12700">
            <a:solidFill>
              <a:srgbClr val="2626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0500" y="381000"/>
            <a:ext cx="92202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300" kern="0" spc="-165" dirty="0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Кома</a:t>
            </a:r>
            <a:r>
              <a:rPr lang="ru-RU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нда 6</a:t>
            </a:r>
            <a:endParaRPr lang="en-US" sz="33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42900" y="1475186"/>
            <a:ext cx="6179820" cy="287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6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br</a:t>
            </a:r>
            <a:r>
              <a:rPr lang="en-US" sz="1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-bread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lang="ru-R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Цыканова</a:t>
            </a:r>
            <a:r>
              <a:rPr lang="ru-R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Ксения Александровна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000375" y="1450179"/>
            <a:ext cx="5800725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ru-RU" sz="135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тимлид</a:t>
            </a:r>
            <a:endParaRPr lang="en-US" sz="135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FF8AFE84-EDED-A18C-84ED-C6ED2F3DCDD9}"/>
              </a:ext>
            </a:extLst>
          </p:cNvPr>
          <p:cNvSpPr/>
          <p:nvPr/>
        </p:nvSpPr>
        <p:spPr>
          <a:xfrm>
            <a:off x="190500" y="2011676"/>
            <a:ext cx="8763000" cy="5810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12700">
            <a:solidFill>
              <a:srgbClr val="262626">
                <a:alpha val="10000"/>
              </a:srgbClr>
            </a:solidFill>
            <a:prstDash val="solid"/>
          </a:ln>
        </p:spPr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AB7CC2F8-A119-9769-9F74-DD34DDFD9976}"/>
              </a:ext>
            </a:extLst>
          </p:cNvPr>
          <p:cNvSpPr/>
          <p:nvPr/>
        </p:nvSpPr>
        <p:spPr>
          <a:xfrm>
            <a:off x="3000375" y="2195030"/>
            <a:ext cx="5800725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ru-RU" sz="1350" dirty="0" err="1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парсинг</a:t>
            </a:r>
            <a:endParaRPr lang="en-US" sz="135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8B1B14DF-0E8E-5705-6317-9C902EBBA9B1}"/>
              </a:ext>
            </a:extLst>
          </p:cNvPr>
          <p:cNvSpPr/>
          <p:nvPr/>
        </p:nvSpPr>
        <p:spPr>
          <a:xfrm>
            <a:off x="190500" y="2756527"/>
            <a:ext cx="8763000" cy="5810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12700">
            <a:solidFill>
              <a:srgbClr val="262626">
                <a:alpha val="10000"/>
              </a:srgbClr>
            </a:solidFill>
            <a:prstDash val="solid"/>
          </a:ln>
        </p:spPr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1F544C63-6428-7ECB-AFEB-E9C01497CA09}"/>
              </a:ext>
            </a:extLst>
          </p:cNvPr>
          <p:cNvSpPr/>
          <p:nvPr/>
        </p:nvSpPr>
        <p:spPr>
          <a:xfrm>
            <a:off x="3000375" y="2939881"/>
            <a:ext cx="5800725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ru-RU" sz="135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аналитика</a:t>
            </a:r>
            <a:endParaRPr lang="en-US" sz="135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DE18DD97-5ED0-8724-2A2B-FB4742E640A0}"/>
              </a:ext>
            </a:extLst>
          </p:cNvPr>
          <p:cNvSpPr/>
          <p:nvPr/>
        </p:nvSpPr>
        <p:spPr>
          <a:xfrm>
            <a:off x="190500" y="3501378"/>
            <a:ext cx="8763000" cy="5810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12700">
            <a:solidFill>
              <a:srgbClr val="262626">
                <a:alpha val="10000"/>
              </a:srgbClr>
            </a:solidFill>
            <a:prstDash val="solid"/>
          </a:ln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82F79F0-0CC1-C05C-8E75-9A414C3A330D}"/>
              </a:ext>
            </a:extLst>
          </p:cNvPr>
          <p:cNvSpPr/>
          <p:nvPr/>
        </p:nvSpPr>
        <p:spPr>
          <a:xfrm>
            <a:off x="3000375" y="3684732"/>
            <a:ext cx="5800725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ru-RU" sz="135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визуализация</a:t>
            </a:r>
            <a:endParaRPr lang="en-US" sz="135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D78D1D5E-D66E-026B-DF7B-73220E137946}"/>
              </a:ext>
            </a:extLst>
          </p:cNvPr>
          <p:cNvSpPr/>
          <p:nvPr/>
        </p:nvSpPr>
        <p:spPr>
          <a:xfrm>
            <a:off x="190500" y="4246229"/>
            <a:ext cx="8763000" cy="5810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12700">
            <a:solidFill>
              <a:srgbClr val="262626">
                <a:alpha val="10000"/>
              </a:srgbClr>
            </a:solidFill>
            <a:prstDash val="solid"/>
          </a:ln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D280D293-95ED-907E-7A8A-D4701E51BDC1}"/>
              </a:ext>
            </a:extLst>
          </p:cNvPr>
          <p:cNvSpPr/>
          <p:nvPr/>
        </p:nvSpPr>
        <p:spPr>
          <a:xfrm>
            <a:off x="3000375" y="4429583"/>
            <a:ext cx="5800725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ru-RU" sz="135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аналитика</a:t>
            </a:r>
            <a:endParaRPr lang="en-US" sz="135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6B0629C0-0C7B-9FA5-215B-4C313BEC7E12}"/>
              </a:ext>
            </a:extLst>
          </p:cNvPr>
          <p:cNvSpPr/>
          <p:nvPr/>
        </p:nvSpPr>
        <p:spPr>
          <a:xfrm>
            <a:off x="342900" y="2213371"/>
            <a:ext cx="6179820" cy="287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overture-hub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lang="ru-R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Зайцева Анна Дмитриевна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B82FB0AB-CD40-2892-10A4-77DE0C5E39FD}"/>
              </a:ext>
            </a:extLst>
          </p:cNvPr>
          <p:cNvSpPr/>
          <p:nvPr/>
        </p:nvSpPr>
        <p:spPr>
          <a:xfrm>
            <a:off x="342900" y="2960614"/>
            <a:ext cx="6179820" cy="287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6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erickhrr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lang="ru-R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Акопян Мариам </a:t>
            </a:r>
            <a:r>
              <a:rPr lang="ru-RU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Карапетовна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FEA827D-2109-97BF-5169-B59C94696A4B}"/>
              </a:ext>
            </a:extLst>
          </p:cNvPr>
          <p:cNvSpPr/>
          <p:nvPr/>
        </p:nvSpPr>
        <p:spPr>
          <a:xfrm>
            <a:off x="342900" y="3707857"/>
            <a:ext cx="6179820" cy="287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6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pxlmxn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lang="ru-R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Дуля Николай Сергеевич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5EBA1239-049A-1C51-9C20-99C38BD89206}"/>
              </a:ext>
            </a:extLst>
          </p:cNvPr>
          <p:cNvSpPr/>
          <p:nvPr/>
        </p:nvSpPr>
        <p:spPr>
          <a:xfrm>
            <a:off x="342900" y="4455100"/>
            <a:ext cx="6179820" cy="287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6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mariia-koshkina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lang="ru-RU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Кошкина Мария Вячеславовна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53C7D2A-F9BA-01F5-820D-2E9E65F49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537564">
            <a:off x="4952277" y="-1120575"/>
            <a:ext cx="33775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4953000"/>
            <a:ext cx="5776913" cy="2143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190500"/>
            <a:ext cx="5776913" cy="2143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58728" y="3389537"/>
            <a:ext cx="509602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ru-RU" sz="1800" i="0" u="none" strike="noStrike" dirty="0">
                <a:solidFill>
                  <a:srgbClr val="00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Цель: </a:t>
            </a:r>
            <a:r>
              <a:rPr lang="ru-RU" sz="1800" i="0" u="none" strike="noStrike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оценить интерес к технологиям по частоте новых вопросов, сравнить теги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6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sql</a:t>
            </a:r>
            <a:r>
              <a:rPr lang="en-US" sz="1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postgresql</a:t>
            </a:r>
            <a:r>
              <a:rPr lang="en-US" sz="1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mysql</a:t>
            </a:r>
            <a:r>
              <a:rPr lang="en-US" sz="1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b="1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sqlite</a:t>
            </a:r>
            <a:endParaRPr lang="en-US" sz="135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358728" y="807720"/>
            <a:ext cx="6234113" cy="100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300" kern="0" spc="-165" dirty="0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Кейс </a:t>
            </a:r>
            <a:r>
              <a:rPr lang="ru-RU" sz="3300" kern="0" spc="-165" dirty="0">
                <a:solidFill>
                  <a:srgbClr val="262626">
                    <a:alpha val="99000"/>
                  </a:srgbClr>
                </a:solidFill>
                <a:latin typeface="Bahnschrift" panose="020B0502040204020203" pitchFamily="34" charset="0"/>
                <a:ea typeface="Hepta Slab" pitchFamily="34" charset="-122"/>
                <a:cs typeface="Cascadia Code" panose="020B0609020000020004" pitchFamily="49" charset="0"/>
              </a:rPr>
              <a:t>№</a:t>
            </a:r>
            <a:r>
              <a:rPr lang="ru-RU" sz="3300" kern="0" spc="-165" dirty="0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8</a:t>
            </a:r>
            <a:endParaRPr lang="en-US" sz="33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0" name="Рисунок 9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8ABD2DA-4D22-6EFA-D7AC-321ABB69B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726" y="-43488"/>
            <a:ext cx="3377550" cy="514350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графическая вставка, иллюстрация, рисунок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32A5237-EC6F-BB23-9603-216DD20AA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868" y="1831393"/>
            <a:ext cx="3252632" cy="22903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DB7114-C25A-B144-7B78-C55DFCFABE8A}"/>
              </a:ext>
            </a:extLst>
          </p:cNvPr>
          <p:cNvSpPr txBox="1"/>
          <p:nvPr/>
        </p:nvSpPr>
        <p:spPr>
          <a:xfrm>
            <a:off x="358728" y="1669328"/>
            <a:ext cx="5096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u="none" strike="noStrike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Тренды вопросов по тегам на </a:t>
            </a:r>
            <a:r>
              <a:rPr lang="ru-RU" sz="1800" i="0" u="none" strike="noStrike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Stack</a:t>
            </a:r>
            <a:r>
              <a:rPr lang="ru-RU" sz="1800" i="0" u="none" strike="noStrike" dirty="0">
                <a:solidFill>
                  <a:srgbClr val="00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ru-RU" sz="1800" i="0" u="none" strike="noStrike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Overflow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B7283B7-F193-AAED-19E9-295F290BC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696" y="0"/>
            <a:ext cx="337755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190500" y="2762250"/>
            <a:ext cx="876300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53300" y="3143250"/>
            <a:ext cx="1600200" cy="84296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562600" y="1533525"/>
            <a:ext cx="1600200" cy="842963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771900" y="3143250"/>
            <a:ext cx="1600200" cy="14859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1981200" y="1104900"/>
            <a:ext cx="1600200" cy="1271588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190500" y="3143250"/>
            <a:ext cx="1600200" cy="1271588"/>
          </a:xfrm>
          <a:prstGeom prst="rect">
            <a:avLst/>
          </a:prstGeom>
          <a:noFill/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782491"/>
            <a:ext cx="4763" cy="271463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2490788"/>
            <a:ext cx="4763" cy="271463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2762250"/>
            <a:ext cx="4763" cy="271463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2490788"/>
            <a:ext cx="4763" cy="271463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2762250"/>
            <a:ext cx="4763" cy="271463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90500" y="381000"/>
            <a:ext cx="92202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300" kern="0" spc="-165" dirty="0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Этапы работы</a:t>
            </a:r>
            <a:endParaRPr lang="en-US" sz="33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190500" y="3143250"/>
            <a:ext cx="2057400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Сбор данных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90500" y="3489243"/>
            <a:ext cx="2461260" cy="1071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Определение метрик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составление структуры 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csv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и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ru-RU" sz="16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парсинг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данных</a:t>
            </a:r>
            <a:endParaRPr lang="en-US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1981200" y="1104900"/>
            <a:ext cx="2057400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400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Подготовка да</a:t>
            </a:r>
            <a:r>
              <a:rPr lang="ru-RU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нных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1981199" y="1400890"/>
            <a:ext cx="2210749" cy="1071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6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Распределе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н</a:t>
            </a:r>
            <a:r>
              <a:rPr lang="ru-RU" sz="16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ие да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нных по таблицам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очистка от дубликатов и ошибок</a:t>
            </a:r>
            <a:endParaRPr lang="en-US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3771900" y="3143250"/>
            <a:ext cx="2057400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400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А</a:t>
            </a:r>
            <a:r>
              <a:rPr lang="ru-RU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нализ</a:t>
            </a:r>
            <a:endParaRPr 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3771900" y="3371850"/>
            <a:ext cx="253746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6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Проведе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ние расчётов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заполнение таблиц и составление отчёта</a:t>
            </a:r>
            <a:endParaRPr lang="en-US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5562600" y="1085373"/>
            <a:ext cx="2509836" cy="95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400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Визуализация а</a:t>
            </a:r>
            <a:r>
              <a:rPr lang="ru-RU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н</a:t>
            </a:r>
            <a:r>
              <a:rPr lang="ru-RU" sz="1400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ализа</a:t>
            </a:r>
            <a:endParaRPr lang="en-US" sz="9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562599" y="1613534"/>
            <a:ext cx="3096578" cy="6429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6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Составле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ние необходимых графиков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и полного </a:t>
            </a:r>
            <a:r>
              <a:rPr lang="ru-RU" sz="16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дашборда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с помощью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Yandex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Datalens</a:t>
            </a:r>
            <a:endParaRPr lang="en-US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7029450" y="3217782"/>
            <a:ext cx="2114550" cy="100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400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Отчёт и презе</a:t>
            </a:r>
            <a:r>
              <a:rPr lang="ru-RU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нтация</a:t>
            </a:r>
            <a:endParaRPr lang="en-US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7018020" y="3704034"/>
            <a:ext cx="2080260" cy="7934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6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Оформле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ние репозитория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отчётов и презентация проекта</a:t>
            </a:r>
            <a:endParaRPr lang="en-US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8BAD75B-3715-7734-D29B-CFECC4001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087"/>
            <a:ext cx="9144000" cy="329148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88623" y="394572"/>
            <a:ext cx="92202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960"/>
              </a:lnSpc>
            </a:pPr>
            <a:r>
              <a:rPr lang="ru-RU" sz="3300" kern="0" spc="-165" dirty="0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Структура </a:t>
            </a:r>
            <a:r>
              <a:rPr lang="en-US" sz="3300" kern="0" spc="-165" dirty="0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csv</a:t>
            </a:r>
            <a:endParaRPr lang="en-US" sz="33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388623" y="3606165"/>
            <a:ext cx="3251200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400" b="1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Da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ys.csv</a:t>
            </a:r>
          </a:p>
        </p:txBody>
      </p:sp>
      <p:sp>
        <p:nvSpPr>
          <p:cNvPr id="9" name="Text 2"/>
          <p:cNvSpPr/>
          <p:nvPr/>
        </p:nvSpPr>
        <p:spPr>
          <a:xfrm>
            <a:off x="375575" y="3929210"/>
            <a:ext cx="2984502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Таблица данных о вопросах для каждого дня за последние 6 месяцев</a:t>
            </a:r>
            <a:endParaRPr lang="en-US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3276314" y="3583156"/>
            <a:ext cx="3251200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400" b="1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Users.csv</a:t>
            </a:r>
            <a:endParaRPr lang="en-US" sz="14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3276314" y="3793479"/>
            <a:ext cx="27305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6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Таблица да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нных о пользователях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задающих вопросы</a:t>
            </a:r>
            <a:r>
              <a:rPr lang="ru-RU" sz="16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 </a:t>
            </a:r>
            <a:endParaRPr lang="en-US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5892800" y="3583156"/>
            <a:ext cx="3251200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400" b="1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Questions.csv</a:t>
            </a:r>
            <a:endParaRPr lang="en-US" sz="14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5892800" y="3868637"/>
            <a:ext cx="2794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6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Таблица да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нных о каждом заданном вопросе по тегам за последние 6 месяцев</a:t>
            </a:r>
            <a:endParaRPr lang="en-US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58A8F125-C3D6-9DC8-1A40-665D36B4A7BA}"/>
              </a:ext>
            </a:extLst>
          </p:cNvPr>
          <p:cNvSpPr/>
          <p:nvPr/>
        </p:nvSpPr>
        <p:spPr>
          <a:xfrm>
            <a:off x="388620" y="1586865"/>
            <a:ext cx="2984502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B383800F-6F09-4121-4B24-AE24A4F21F75}"/>
              </a:ext>
            </a:extLst>
          </p:cNvPr>
          <p:cNvSpPr/>
          <p:nvPr/>
        </p:nvSpPr>
        <p:spPr>
          <a:xfrm flipV="1">
            <a:off x="3787140" y="1628655"/>
            <a:ext cx="2778074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06AA0BD4-5CB2-3C83-4285-067D5D0B2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687" y="1116718"/>
            <a:ext cx="140179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user_id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location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tag</a:t>
            </a:r>
            <a:endParaRPr kumimoji="0" lang="en-US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body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score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endParaRPr kumimoji="0" lang="en-US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26AD4CE4-5F90-CE6F-DEFA-8F42807E7098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3322317" y="1378088"/>
            <a:ext cx="273049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rating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endParaRPr lang="en-US" altLang="ru-R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location</a:t>
            </a: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5A0AC480-69B4-AA2C-5771-4D5563398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19" y="1275529"/>
            <a:ext cx="29082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date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endParaRPr kumimoji="0" lang="en-US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tag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endParaRPr kumimoji="0" lang="en-US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question_count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568555-DA93-AB09-0E13-4743C187F7B8}"/>
              </a:ext>
            </a:extLst>
          </p:cNvPr>
          <p:cNvSpPr txBox="1"/>
          <p:nvPr/>
        </p:nvSpPr>
        <p:spPr>
          <a:xfrm>
            <a:off x="7116089" y="1332161"/>
            <a:ext cx="48044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up_vote_count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down_vote_count</a:t>
            </a:r>
            <a:r>
              <a:rPr kumimoji="0" lang="ru-RU" altLang="ru-R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created_at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answers_count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view_count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is_answered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83072" y="388719"/>
            <a:ext cx="92202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300" kern="0" spc="-165" dirty="0" err="1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Парси</a:t>
            </a:r>
            <a:r>
              <a:rPr lang="ru-RU" sz="33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нг</a:t>
            </a:r>
            <a:endParaRPr lang="en-US" sz="33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145B80D-CABE-515F-4277-C96632FF4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2108" y="3861365"/>
            <a:ext cx="3298562" cy="657591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23D0D01-BFE4-9032-ADF2-19074B740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50" y="3744153"/>
            <a:ext cx="746000" cy="74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F828A9C-B24D-BD16-BFE3-11DD10A6A4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621"/>
          <a:stretch/>
        </p:blipFill>
        <p:spPr bwMode="auto">
          <a:xfrm>
            <a:off x="7068287" y="3764894"/>
            <a:ext cx="1036823" cy="725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8D61739-2CB1-EDD0-6359-89FC0B299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" y="3669200"/>
            <a:ext cx="3213968" cy="101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1F201AA8-DDD6-ABB2-339D-313BDD97048D}"/>
              </a:ext>
            </a:extLst>
          </p:cNvPr>
          <p:cNvSpPr/>
          <p:nvPr/>
        </p:nvSpPr>
        <p:spPr>
          <a:xfrm>
            <a:off x="403860" y="1256206"/>
            <a:ext cx="3251200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400" b="1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Da</a:t>
            </a:r>
            <a:r>
              <a:rPr lang="en-US" sz="14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ys.csv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2CD1C49A-C338-E4F9-6EB0-292C7EA3AEE9}"/>
              </a:ext>
            </a:extLst>
          </p:cNvPr>
          <p:cNvSpPr/>
          <p:nvPr/>
        </p:nvSpPr>
        <p:spPr>
          <a:xfrm>
            <a:off x="403860" y="2263473"/>
            <a:ext cx="3251200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400" b="1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Users.csv</a:t>
            </a:r>
            <a:endParaRPr lang="en-US" sz="14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E1F5EA84-80F1-86F4-43D6-CC49221CF627}"/>
              </a:ext>
            </a:extLst>
          </p:cNvPr>
          <p:cNvSpPr/>
          <p:nvPr/>
        </p:nvSpPr>
        <p:spPr>
          <a:xfrm>
            <a:off x="383072" y="3068792"/>
            <a:ext cx="3251200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1400" b="1" dirty="0">
                <a:solidFill>
                  <a:srgbClr val="3B3B3B">
                    <a:alpha val="99000"/>
                  </a:srgbClr>
                </a:solidFill>
                <a:latin typeface="Cascadia Code" panose="020B0609020000020004" pitchFamily="49" charset="0"/>
                <a:ea typeface="Azeret Mono" pitchFamily="34" charset="-122"/>
                <a:cs typeface="Cascadia Code" panose="020B0609020000020004" pitchFamily="49" charset="0"/>
              </a:rPr>
              <a:t>Questions.csv</a:t>
            </a:r>
            <a:endParaRPr lang="en-US" sz="1400" b="1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60F423-1220-839B-DB47-48EADFE29987}"/>
              </a:ext>
            </a:extLst>
          </p:cNvPr>
          <p:cNvSpPr txBox="1"/>
          <p:nvPr/>
        </p:nvSpPr>
        <p:spPr>
          <a:xfrm>
            <a:off x="403860" y="1398865"/>
            <a:ext cx="7025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Да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нные за полгода в период </a:t>
            </a:r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25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.</a:t>
            </a:r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06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.</a:t>
            </a:r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2025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-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25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.</a:t>
            </a:r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12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.</a:t>
            </a:r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2025</a:t>
            </a:r>
          </a:p>
          <a:p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495 строк (учитывая 4 тега)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A5D8C0-57EF-0F26-BD94-BBBC5D0431E3}"/>
              </a:ext>
            </a:extLst>
          </p:cNvPr>
          <p:cNvSpPr txBox="1"/>
          <p:nvPr/>
        </p:nvSpPr>
        <p:spPr>
          <a:xfrm>
            <a:off x="403860" y="2403473"/>
            <a:ext cx="738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Да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нные пользователей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задающих вопросы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.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704 строки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6E7363-EEB3-CF50-EDB6-32C56ED4909D}"/>
              </a:ext>
            </a:extLst>
          </p:cNvPr>
          <p:cNvSpPr txBox="1"/>
          <p:nvPr/>
        </p:nvSpPr>
        <p:spPr>
          <a:xfrm>
            <a:off x="383072" y="3239165"/>
            <a:ext cx="738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1175 строк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. 1040 </a:t>
            </a:r>
            <a:r>
              <a:rPr lang="ru-RU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после обработки</a:t>
            </a:r>
          </a:p>
        </p:txBody>
      </p:sp>
    </p:spTree>
    <p:extLst>
      <p:ext uri="{BB962C8B-B14F-4D97-AF65-F5344CB8AC3E}">
        <p14:creationId xmlns:p14="http://schemas.microsoft.com/office/powerpoint/2010/main" val="116904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BEC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0"/>
            <a:ext cx="4763" cy="1738313"/>
          </a:xfrm>
          <a:prstGeom prst="rect">
            <a:avLst/>
          </a:prstGeom>
          <a:solidFill>
            <a:srgbClr val="26262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48601" y="2293621"/>
            <a:ext cx="4763" cy="1738313"/>
          </a:xfrm>
          <a:prstGeom prst="rect">
            <a:avLst/>
          </a:prstGeom>
          <a:solidFill>
            <a:srgbClr val="26262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3100" y="2295526"/>
            <a:ext cx="4763" cy="1738313"/>
          </a:xfrm>
          <a:prstGeom prst="rect">
            <a:avLst/>
          </a:prstGeom>
          <a:solidFill>
            <a:srgbClr val="262626">
              <a:alpha val="2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4578" y="2286000"/>
            <a:ext cx="2243138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100" dirty="0">
                <a:solidFill>
                  <a:srgbClr val="3B3B3B">
                    <a:alpha val="99000"/>
                  </a:srgbClr>
                </a:solidFill>
                <a:latin typeface="Cascadia Code Light" panose="020B0609020000020004" pitchFamily="49" charset="0"/>
                <a:ea typeface="Azeret Mono" pitchFamily="34" charset="-122"/>
                <a:cs typeface="Cascadia Code Light" panose="020B0609020000020004" pitchFamily="49" charset="0"/>
              </a:rPr>
              <a:t>Первый вопрос</a:t>
            </a:r>
            <a:endParaRPr lang="en-US" sz="11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150388" y="2282332"/>
            <a:ext cx="2243138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100" dirty="0">
                <a:solidFill>
                  <a:srgbClr val="3B3B3B">
                    <a:alpha val="99000"/>
                  </a:srgbClr>
                </a:solidFill>
                <a:latin typeface="Cascadia Code Light" panose="020B0609020000020004" pitchFamily="49" charset="0"/>
                <a:ea typeface="Azeret Mono" pitchFamily="34" charset="-122"/>
                <a:cs typeface="Cascadia Code Light" panose="020B0609020000020004" pitchFamily="49" charset="0"/>
              </a:rPr>
              <a:t>Второй вопрос</a:t>
            </a:r>
            <a:endParaRPr lang="en-US" sz="11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835718" y="2285999"/>
            <a:ext cx="2243138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100" dirty="0">
                <a:solidFill>
                  <a:srgbClr val="3B3B3B">
                    <a:alpha val="99000"/>
                  </a:srgbClr>
                </a:solidFill>
                <a:latin typeface="Cascadia Code Light" panose="020B0609020000020004" pitchFamily="49" charset="0"/>
                <a:ea typeface="Azeret Mono" pitchFamily="34" charset="-122"/>
                <a:cs typeface="Cascadia Code Light" panose="020B0609020000020004" pitchFamily="49" charset="0"/>
              </a:rPr>
              <a:t>Третий вопрос</a:t>
            </a:r>
            <a:endParaRPr lang="en-US" sz="11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568910" y="2285998"/>
            <a:ext cx="2243138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100" dirty="0">
                <a:solidFill>
                  <a:srgbClr val="3B3B3B">
                    <a:alpha val="99000"/>
                  </a:srgbClr>
                </a:solidFill>
                <a:latin typeface="Cascadia Code Light" panose="020B0609020000020004" pitchFamily="49" charset="0"/>
                <a:ea typeface="Azeret Mono" pitchFamily="34" charset="-122"/>
                <a:cs typeface="Cascadia Code Light" panose="020B0609020000020004" pitchFamily="49" charset="0"/>
              </a:rPr>
              <a:t>Четвёртый вопрос</a:t>
            </a:r>
            <a:endParaRPr lang="en-US" sz="11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73380" y="800098"/>
            <a:ext cx="9220200" cy="214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ru-RU" sz="14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а</a:t>
            </a:r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н</a:t>
            </a:r>
            <a:r>
              <a:rPr lang="ru-RU" sz="1400" dirty="0">
                <a:solidFill>
                  <a:srgbClr val="262626">
                    <a:alpha val="99000"/>
                  </a:srgbClr>
                </a:solidFill>
                <a:latin typeface="Cascadia Code Light" panose="020B0609020000020004" pitchFamily="49" charset="0"/>
                <a:ea typeface="Gentium Plus" pitchFamily="34" charset="-122"/>
                <a:cs typeface="Cascadia Code Light" panose="020B0609020000020004" pitchFamily="49" charset="0"/>
              </a:rPr>
              <a:t>ализ</a:t>
            </a:r>
            <a:endParaRPr lang="en-US" sz="14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20040" y="1052513"/>
            <a:ext cx="92202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300" kern="0" spc="-165" dirty="0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Вопросы</a:t>
            </a:r>
            <a:endParaRPr lang="en-US" sz="33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CE62AC3C-B3C6-8483-5AFC-18BCC8E59807}"/>
              </a:ext>
            </a:extLst>
          </p:cNvPr>
          <p:cNvSpPr/>
          <p:nvPr/>
        </p:nvSpPr>
        <p:spPr>
          <a:xfrm>
            <a:off x="5546051" y="2293620"/>
            <a:ext cx="4763" cy="1738313"/>
          </a:xfrm>
          <a:prstGeom prst="rect">
            <a:avLst/>
          </a:prstGeom>
          <a:solidFill>
            <a:srgbClr val="262626">
              <a:alpha val="20000"/>
            </a:srgbClr>
          </a:solidFill>
          <a:ln/>
        </p:spPr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277A98C5-26EF-917F-1CC9-F4BF7329F733}"/>
              </a:ext>
            </a:extLst>
          </p:cNvPr>
          <p:cNvSpPr/>
          <p:nvPr/>
        </p:nvSpPr>
        <p:spPr>
          <a:xfrm>
            <a:off x="7268052" y="2362200"/>
            <a:ext cx="4763" cy="1738313"/>
          </a:xfrm>
          <a:prstGeom prst="rect">
            <a:avLst/>
          </a:prstGeom>
          <a:solidFill>
            <a:srgbClr val="262626">
              <a:alpha val="20000"/>
            </a:srgbClr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2449053F-1C89-079C-D0F0-CA326EE01433}"/>
              </a:ext>
            </a:extLst>
          </p:cNvPr>
          <p:cNvSpPr/>
          <p:nvPr/>
        </p:nvSpPr>
        <p:spPr>
          <a:xfrm>
            <a:off x="7272815" y="2278857"/>
            <a:ext cx="2243138" cy="1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990"/>
              </a:lnSpc>
              <a:buNone/>
            </a:pPr>
            <a:r>
              <a:rPr lang="ru-RU" sz="1100" dirty="0">
                <a:solidFill>
                  <a:srgbClr val="3B3B3B">
                    <a:alpha val="99000"/>
                  </a:srgbClr>
                </a:solidFill>
                <a:latin typeface="Cascadia Code Light" panose="020B0609020000020004" pitchFamily="49" charset="0"/>
                <a:ea typeface="Azeret Mono" pitchFamily="34" charset="-122"/>
                <a:cs typeface="Cascadia Code Light" panose="020B0609020000020004" pitchFamily="49" charset="0"/>
              </a:rPr>
              <a:t>Пятый вопрос</a:t>
            </a:r>
            <a:endParaRPr lang="en-US" sz="11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F3BFB5-1975-C407-C62C-57BEF9189325}"/>
              </a:ext>
            </a:extLst>
          </p:cNvPr>
          <p:cNvSpPr txBox="1"/>
          <p:nvPr/>
        </p:nvSpPr>
        <p:spPr>
          <a:xfrm>
            <a:off x="416243" y="2531518"/>
            <a:ext cx="14051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Есть ли рост/спад интереса по времени?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24516E-AA88-0C44-9C9B-248BE4D0FAF9}"/>
              </a:ext>
            </a:extLst>
          </p:cNvPr>
          <p:cNvSpPr txBox="1"/>
          <p:nvPr/>
        </p:nvSpPr>
        <p:spPr>
          <a:xfrm>
            <a:off x="2144912" y="2532013"/>
            <a:ext cx="1676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Как растёт число вопросов в течение дня?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6A5277-B4FF-1E35-349B-8DAA1A46DE58}"/>
              </a:ext>
            </a:extLst>
          </p:cNvPr>
          <p:cNvSpPr txBox="1"/>
          <p:nvPr/>
        </p:nvSpPr>
        <p:spPr>
          <a:xfrm>
            <a:off x="3836432" y="2537711"/>
            <a:ext cx="14051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Насколько сезонны вопросы (дни недели)?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D87672-5DED-97E8-92FC-5E38C42B54FC}"/>
              </a:ext>
            </a:extLst>
          </p:cNvPr>
          <p:cNvSpPr txBox="1"/>
          <p:nvPr/>
        </p:nvSpPr>
        <p:spPr>
          <a:xfrm>
            <a:off x="5564984" y="2533633"/>
            <a:ext cx="16411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Какие теги наиболее/</a:t>
            </a:r>
          </a:p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наименее популярны?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07AE14-5759-0192-0340-4BCFA180EB30}"/>
              </a:ext>
            </a:extLst>
          </p:cNvPr>
          <p:cNvSpPr txBox="1"/>
          <p:nvPr/>
        </p:nvSpPr>
        <p:spPr>
          <a:xfrm>
            <a:off x="7268052" y="2538887"/>
            <a:ext cx="14399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Из какого региона больше всего вопросов?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588" y="4953000"/>
            <a:ext cx="5776913" cy="2143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588" y="190500"/>
            <a:ext cx="5776913" cy="2143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687128" y="166420"/>
            <a:ext cx="6234113" cy="100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960"/>
              </a:lnSpc>
              <a:buNone/>
            </a:pPr>
            <a:r>
              <a:rPr lang="ru-RU" sz="3300" kern="0" spc="-165" dirty="0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Расчёты</a:t>
            </a:r>
          </a:p>
        </p:txBody>
      </p:sp>
      <p:pic>
        <p:nvPicPr>
          <p:cNvPr id="13" name="Рисунок 12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44FDC19-4132-B5A3-9A0A-D2CCD876B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320" y="0"/>
            <a:ext cx="3377550" cy="514350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графическая вставка, одежда, иллюстрация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FBBC259-8588-81EE-BCE7-7DB19C1F8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" y="1320500"/>
            <a:ext cx="2474516" cy="25024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6ABAED-760D-9B49-2DEE-885141F2E6DE}"/>
              </a:ext>
            </a:extLst>
          </p:cNvPr>
          <p:cNvSpPr txBox="1"/>
          <p:nvPr/>
        </p:nvSpPr>
        <p:spPr>
          <a:xfrm>
            <a:off x="3712830" y="1219330"/>
            <a:ext cx="5240671" cy="2347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Среднее арифметическое 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MA7</a:t>
            </a:r>
            <a:endParaRPr lang="ru-RU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Максимум и минимум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Скользящее среднее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Размах (дисперсия + волатильность)</a:t>
            </a:r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09007D1C-8BC4-12D1-7929-204DA2F46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005" y="3849345"/>
            <a:ext cx="806414" cy="80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>
            <a:extLst>
              <a:ext uri="{FF2B5EF4-FFF2-40B4-BE49-F238E27FC236}">
                <a16:creationId xmlns:a16="http://schemas.microsoft.com/office/drawing/2014/main" id="{44427A81-4799-66E1-8707-8B3F0BA0B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252" y="3921580"/>
            <a:ext cx="2995838" cy="63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AF73DBD-C36A-AB7A-3E26-C3845E5E5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012" y="1729740"/>
            <a:ext cx="3377550" cy="5143500"/>
          </a:xfrm>
          <a:prstGeom prst="rect">
            <a:avLst/>
          </a:prstGeom>
        </p:spPr>
      </p:pic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0"/>
            <a:ext cx="2990850" cy="5143500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995D6467-BB30-D338-9667-3D40C0951CF3}"/>
              </a:ext>
            </a:extLst>
          </p:cNvPr>
          <p:cNvSpPr/>
          <p:nvPr/>
        </p:nvSpPr>
        <p:spPr>
          <a:xfrm>
            <a:off x="467937" y="415968"/>
            <a:ext cx="3155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4000" kern="0" spc="-225" dirty="0">
                <a:solidFill>
                  <a:srgbClr val="262626">
                    <a:alpha val="99000"/>
                  </a:srgbClr>
                </a:solidFill>
                <a:latin typeface="Cascadia Code" panose="020B0609020000020004" pitchFamily="49" charset="0"/>
                <a:ea typeface="Hepta Slab" pitchFamily="34" charset="-122"/>
                <a:cs typeface="Cascadia Code" panose="020B0609020000020004" pitchFamily="49" charset="0"/>
              </a:rPr>
              <a:t>Результаты а</a:t>
            </a:r>
            <a:r>
              <a:rPr lang="ru-RU" sz="4000" kern="120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нализа</a:t>
            </a:r>
            <a:endParaRPr lang="en-US" sz="4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1" name="Рисунок 10" descr="Изображение выглядит как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3B52B59-C80A-D8AD-CD65-AD45D77C46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250"/>
          <a:stretch/>
        </p:blipFill>
        <p:spPr>
          <a:xfrm>
            <a:off x="6153150" y="2873644"/>
            <a:ext cx="3188969" cy="1569594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графическая вставка, иллюстрация, мультфильм, Мультфильм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B38112F-B14C-5960-2246-5B8C6E3952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885" y="830339"/>
            <a:ext cx="3359504" cy="248076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ипография, Шрифт,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422B27C-0A79-DFF6-271D-045F846026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5530" y="2191755"/>
            <a:ext cx="2156484" cy="21564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81B9263-5E2E-6DA7-8204-0635B24FACD2}"/>
              </a:ext>
            </a:extLst>
          </p:cNvPr>
          <p:cNvSpPr txBox="1"/>
          <p:nvPr/>
        </p:nvSpPr>
        <p:spPr>
          <a:xfrm>
            <a:off x="3040854" y="4319863"/>
            <a:ext cx="470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602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5746"/>
            <a:ext cx="2990850" cy="5143500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C4D1-C72E-C707-A5E3-CB67618533B5}"/>
              </a:ext>
            </a:extLst>
          </p:cNvPr>
          <p:cNvSpPr txBox="1"/>
          <p:nvPr/>
        </p:nvSpPr>
        <p:spPr>
          <a:xfrm>
            <a:off x="323557" y="461110"/>
            <a:ext cx="621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Есть ли рост/спад интереса по времени? </a:t>
            </a:r>
          </a:p>
        </p:txBody>
      </p:sp>
      <p:pic>
        <p:nvPicPr>
          <p:cNvPr id="10" name="Рисунок 9" descr="Изображение выглядит как рукописный текст, линия,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A5BA4C1-D9BE-2F4B-C335-ADB22396998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277"/>
          <a:stretch/>
        </p:blipFill>
        <p:spPr>
          <a:xfrm>
            <a:off x="562253" y="942870"/>
            <a:ext cx="8019493" cy="3462235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рукописный текст, линия,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F13AD39-7520-066A-0DE0-3ED56C2EF6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083" t="93983" r="36289" b="1094"/>
          <a:stretch/>
        </p:blipFill>
        <p:spPr>
          <a:xfrm>
            <a:off x="1432800" y="951193"/>
            <a:ext cx="6020473" cy="4889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3D67CF-F3F4-E9EA-D510-7BDD60A43871}"/>
              </a:ext>
            </a:extLst>
          </p:cNvPr>
          <p:cNvSpPr txBox="1"/>
          <p:nvPr/>
        </p:nvSpPr>
        <p:spPr>
          <a:xfrm>
            <a:off x="1014704" y="4359982"/>
            <a:ext cx="7114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Колебания МА7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количества вопросов по каждому тегу в течение 6 месяцев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AEEEBD-AB06-882F-585A-BF7F8FFCC16A}"/>
              </a:ext>
            </a:extLst>
          </p:cNvPr>
          <p:cNvSpPr txBox="1"/>
          <p:nvPr/>
        </p:nvSpPr>
        <p:spPr>
          <a:xfrm>
            <a:off x="579560" y="34179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1</a:t>
            </a:r>
            <a:endParaRPr lang="ru-RU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2759D-C078-7768-0D9F-0978C38D9F18}"/>
              </a:ext>
            </a:extLst>
          </p:cNvPr>
          <p:cNvSpPr txBox="1"/>
          <p:nvPr/>
        </p:nvSpPr>
        <p:spPr>
          <a:xfrm>
            <a:off x="578151" y="399965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0</a:t>
            </a:r>
            <a:endParaRPr lang="ru-RU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75319F-30CD-596E-D2BF-0A2EEC01BC53}"/>
              </a:ext>
            </a:extLst>
          </p:cNvPr>
          <p:cNvSpPr txBox="1"/>
          <p:nvPr/>
        </p:nvSpPr>
        <p:spPr>
          <a:xfrm>
            <a:off x="579560" y="27733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</a:t>
            </a:r>
            <a:endParaRPr lang="ru-RU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6F6B9A-E76F-5B23-CE1D-F1C4C2BFEEFB}"/>
              </a:ext>
            </a:extLst>
          </p:cNvPr>
          <p:cNvSpPr txBox="1"/>
          <p:nvPr/>
        </p:nvSpPr>
        <p:spPr>
          <a:xfrm>
            <a:off x="579560" y="212869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3</a:t>
            </a:r>
            <a:endParaRPr lang="ru-RU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23CFC3-E8BA-993E-A550-7DDA5390DE8B}"/>
              </a:ext>
            </a:extLst>
          </p:cNvPr>
          <p:cNvSpPr txBox="1"/>
          <p:nvPr/>
        </p:nvSpPr>
        <p:spPr>
          <a:xfrm>
            <a:off x="579560" y="155836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4</a:t>
            </a:r>
            <a:endParaRPr lang="ru-RU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10E299-2A0E-6325-4BDE-0E7F7F746FD4}"/>
              </a:ext>
            </a:extLst>
          </p:cNvPr>
          <p:cNvSpPr txBox="1"/>
          <p:nvPr/>
        </p:nvSpPr>
        <p:spPr>
          <a:xfrm>
            <a:off x="579560" y="97660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5</a:t>
            </a:r>
            <a:endParaRPr lang="ru-RU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D5438-A45D-F6F7-8B65-7882236FF91F}"/>
              </a:ext>
            </a:extLst>
          </p:cNvPr>
          <p:cNvSpPr txBox="1"/>
          <p:nvPr/>
        </p:nvSpPr>
        <p:spPr>
          <a:xfrm>
            <a:off x="7851332" y="1592780"/>
            <a:ext cx="4705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46927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sz="1400" dirty="0">
              <a:solidFill>
                <a:srgbClr val="46927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 descr="Изображение выглядит как Шрифт, Графика, типография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95ED794-37BD-B559-A522-6A5A1AB1A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3342" y="302722"/>
            <a:ext cx="1347769" cy="134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1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5746"/>
            <a:ext cx="2990850" cy="5143500"/>
          </a:xfrm>
          <a:prstGeom prst="rect">
            <a:avLst/>
          </a:prstGeom>
        </p:spPr>
      </p:pic>
      <p:pic>
        <p:nvPicPr>
          <p:cNvPr id="3" name="Рисунок 2" descr="Изображение выглядит как снимок экрана, текст, Прямоугольник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B82F1BE-3712-7319-BC42-0DA491F03D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0235"/>
          <a:stretch/>
        </p:blipFill>
        <p:spPr>
          <a:xfrm>
            <a:off x="694799" y="836070"/>
            <a:ext cx="7754400" cy="3179452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C4D1-C72E-C707-A5E3-CB67618533B5}"/>
              </a:ext>
            </a:extLst>
          </p:cNvPr>
          <p:cNvSpPr txBox="1"/>
          <p:nvPr/>
        </p:nvSpPr>
        <p:spPr>
          <a:xfrm>
            <a:off x="323557" y="461110"/>
            <a:ext cx="621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Есть ли рост/спад интереса по времени?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3D67CF-F3F4-E9EA-D510-7BDD60A43871}"/>
              </a:ext>
            </a:extLst>
          </p:cNvPr>
          <p:cNvSpPr txBox="1"/>
          <p:nvPr/>
        </p:nvSpPr>
        <p:spPr>
          <a:xfrm>
            <a:off x="1014704" y="4359982"/>
            <a:ext cx="7114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З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начения размаха и дисперсии для каждого тега для оценки стабильности интереса</a:t>
            </a:r>
            <a:endParaRPr lang="ru-RU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2759D-C078-7768-0D9F-0978C38D9F18}"/>
              </a:ext>
            </a:extLst>
          </p:cNvPr>
          <p:cNvSpPr txBox="1"/>
          <p:nvPr/>
        </p:nvSpPr>
        <p:spPr>
          <a:xfrm>
            <a:off x="704851" y="383998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0</a:t>
            </a:r>
            <a:endParaRPr lang="ru-RU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23CFC3-E8BA-993E-A550-7DDA5390DE8B}"/>
              </a:ext>
            </a:extLst>
          </p:cNvPr>
          <p:cNvSpPr txBox="1"/>
          <p:nvPr/>
        </p:nvSpPr>
        <p:spPr>
          <a:xfrm>
            <a:off x="704851" y="253746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5</a:t>
            </a:r>
            <a:endParaRPr lang="ru-RU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10E299-2A0E-6325-4BDE-0E7F7F746FD4}"/>
              </a:ext>
            </a:extLst>
          </p:cNvPr>
          <p:cNvSpPr txBox="1"/>
          <p:nvPr/>
        </p:nvSpPr>
        <p:spPr>
          <a:xfrm>
            <a:off x="599721" y="131556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10</a:t>
            </a:r>
            <a:endParaRPr lang="ru-RU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D5438-A45D-F6F7-8B65-7882236FF91F}"/>
              </a:ext>
            </a:extLst>
          </p:cNvPr>
          <p:cNvSpPr txBox="1"/>
          <p:nvPr/>
        </p:nvSpPr>
        <p:spPr>
          <a:xfrm>
            <a:off x="7851332" y="1592780"/>
            <a:ext cx="4705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46927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sz="1400" dirty="0">
              <a:solidFill>
                <a:srgbClr val="46927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 descr="Изображение выглядит как Шрифт, Графика, типография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95ED794-37BD-B559-A522-6A5A1AB1A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3342" y="302722"/>
            <a:ext cx="1347769" cy="1347769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нимок экрана, текст, Прямоугольник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045EBB6-BF53-B5CE-93E5-CE928192A3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433" t="94810" r="40655" b="1778"/>
          <a:stretch/>
        </p:blipFill>
        <p:spPr>
          <a:xfrm>
            <a:off x="1080001" y="947291"/>
            <a:ext cx="3211200" cy="2646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2B5CCC-06C7-7583-C4E1-B0F6B5382C03}"/>
              </a:ext>
            </a:extLst>
          </p:cNvPr>
          <p:cNvSpPr txBox="1"/>
          <p:nvPr/>
        </p:nvSpPr>
        <p:spPr>
          <a:xfrm>
            <a:off x="1297927" y="10426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(размах)</a:t>
            </a:r>
            <a:endParaRPr lang="ru-RU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4E2D4-9835-069E-262E-39BCCEE4541D}"/>
              </a:ext>
            </a:extLst>
          </p:cNvPr>
          <p:cNvSpPr txBox="1"/>
          <p:nvPr/>
        </p:nvSpPr>
        <p:spPr>
          <a:xfrm>
            <a:off x="2838573" y="10636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(дисперсия)</a:t>
            </a:r>
            <a:endParaRPr lang="ru-R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10629C-396D-3992-E253-A0FBDDCFFD51}"/>
              </a:ext>
            </a:extLst>
          </p:cNvPr>
          <p:cNvSpPr txBox="1"/>
          <p:nvPr/>
        </p:nvSpPr>
        <p:spPr>
          <a:xfrm>
            <a:off x="1540385" y="39130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mysql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7D0D5-2ACA-C237-BB81-AEB6179CDBC4}"/>
              </a:ext>
            </a:extLst>
          </p:cNvPr>
          <p:cNvSpPr txBox="1"/>
          <p:nvPr/>
        </p:nvSpPr>
        <p:spPr>
          <a:xfrm>
            <a:off x="3089396" y="392546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postgresql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1106FD-679A-EF39-A7F9-59FB7C2BBA95}"/>
              </a:ext>
            </a:extLst>
          </p:cNvPr>
          <p:cNvSpPr txBox="1"/>
          <p:nvPr/>
        </p:nvSpPr>
        <p:spPr>
          <a:xfrm>
            <a:off x="5317616" y="392254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sql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0F9293-03E2-37EA-2290-A4DB0763133E}"/>
              </a:ext>
            </a:extLst>
          </p:cNvPr>
          <p:cNvSpPr txBox="1"/>
          <p:nvPr/>
        </p:nvSpPr>
        <p:spPr>
          <a:xfrm>
            <a:off x="6973924" y="393202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sqlite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284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5746"/>
            <a:ext cx="2990850" cy="5143500"/>
          </a:xfrm>
          <a:prstGeom prst="rect">
            <a:avLst/>
          </a:prstGeom>
        </p:spPr>
      </p:pic>
      <p:pic>
        <p:nvPicPr>
          <p:cNvPr id="3" name="Рисунок 2" descr="Изображение выглядит как линия, График, диаграмма, ска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BB49E1E-EC12-0910-1E30-3A51C7445D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21"/>
          <a:stretch/>
        </p:blipFill>
        <p:spPr>
          <a:xfrm>
            <a:off x="670260" y="1079621"/>
            <a:ext cx="7308000" cy="3147426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C4D1-C72E-C707-A5E3-CB67618533B5}"/>
              </a:ext>
            </a:extLst>
          </p:cNvPr>
          <p:cNvSpPr txBox="1"/>
          <p:nvPr/>
        </p:nvSpPr>
        <p:spPr>
          <a:xfrm>
            <a:off x="323557" y="461110"/>
            <a:ext cx="621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Как растёт число вопросов в течение дня?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3D67CF-F3F4-E9EA-D510-7BDD60A43871}"/>
              </a:ext>
            </a:extLst>
          </p:cNvPr>
          <p:cNvSpPr txBox="1"/>
          <p:nvPr/>
        </p:nvSpPr>
        <p:spPr>
          <a:xfrm>
            <a:off x="1014705" y="4429631"/>
            <a:ext cx="7114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Отображе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ние накопления числа вопросов в течени</a:t>
            </a:r>
            <a:r>
              <a:rPr lang="ru-RU" sz="1600" dirty="0">
                <a:solidFill>
                  <a:srgbClr val="0000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е д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</a:t>
            </a:r>
            <a:r>
              <a:rPr lang="ru-RU" sz="1600" dirty="0">
                <a:solidFill>
                  <a:srgbClr val="0000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я(</a:t>
            </a:r>
            <a:r>
              <a:rPr lang="en-US" sz="1600" dirty="0">
                <a:solidFill>
                  <a:srgbClr val="0000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UTC</a:t>
            </a:r>
            <a:r>
              <a:rPr lang="ru-RU" sz="1600" dirty="0">
                <a:solidFill>
                  <a:srgbClr val="0000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  <a:endParaRPr lang="ru-RU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D5438-A45D-F6F7-8B65-7882236FF91F}"/>
              </a:ext>
            </a:extLst>
          </p:cNvPr>
          <p:cNvSpPr txBox="1"/>
          <p:nvPr/>
        </p:nvSpPr>
        <p:spPr>
          <a:xfrm>
            <a:off x="7851332" y="1592780"/>
            <a:ext cx="4705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46927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sz="1400" dirty="0">
              <a:solidFill>
                <a:srgbClr val="46927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 descr="Изображение выглядит как Шрифт, Графика, типография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95ED794-37BD-B559-A522-6A5A1AB1A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3342" y="302722"/>
            <a:ext cx="1347769" cy="1347769"/>
          </a:xfrm>
          <a:prstGeom prst="rect">
            <a:avLst/>
          </a:prstGeom>
        </p:spPr>
      </p:pic>
      <p:pic>
        <p:nvPicPr>
          <p:cNvPr id="6" name="Рисунок 5" descr="Изображение выглядит как линия, График, диаграмма, ска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2E04411-32CF-D9DA-383B-625717BE1E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96" t="93942" r="37001" b="1111"/>
          <a:stretch/>
        </p:blipFill>
        <p:spPr>
          <a:xfrm>
            <a:off x="1196667" y="1170075"/>
            <a:ext cx="5147546" cy="437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791F00-243C-B4CC-72AA-5A8C858133E3}"/>
              </a:ext>
            </a:extLst>
          </p:cNvPr>
          <p:cNvSpPr txBox="1"/>
          <p:nvPr/>
        </p:nvSpPr>
        <p:spPr>
          <a:xfrm>
            <a:off x="633765" y="128500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2,5</a:t>
            </a:r>
            <a:endParaRPr lang="ru-RU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362177-81ED-D9C5-426F-73ADEFB8BA0E}"/>
              </a:ext>
            </a:extLst>
          </p:cNvPr>
          <p:cNvSpPr txBox="1"/>
          <p:nvPr/>
        </p:nvSpPr>
        <p:spPr>
          <a:xfrm>
            <a:off x="732059" y="181789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</a:t>
            </a:r>
            <a:endParaRPr lang="ru-R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9514C1-71AD-6C04-C387-D980753E8F35}"/>
              </a:ext>
            </a:extLst>
          </p:cNvPr>
          <p:cNvSpPr txBox="1"/>
          <p:nvPr/>
        </p:nvSpPr>
        <p:spPr>
          <a:xfrm>
            <a:off x="732059" y="281122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1</a:t>
            </a:r>
            <a:endParaRPr lang="ru-RU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557500-B72D-925F-6ED1-A1032C13627D}"/>
              </a:ext>
            </a:extLst>
          </p:cNvPr>
          <p:cNvSpPr txBox="1"/>
          <p:nvPr/>
        </p:nvSpPr>
        <p:spPr>
          <a:xfrm>
            <a:off x="741764" y="390032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0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891798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5746"/>
            <a:ext cx="2990850" cy="514350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линия, диаграмма, График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4895A1C-AE3B-128B-6009-B1A059EBCB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25"/>
          <a:stretch/>
        </p:blipFill>
        <p:spPr>
          <a:xfrm>
            <a:off x="598826" y="1015257"/>
            <a:ext cx="7768800" cy="3325068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C4D1-C72E-C707-A5E3-CB67618533B5}"/>
              </a:ext>
            </a:extLst>
          </p:cNvPr>
          <p:cNvSpPr txBox="1"/>
          <p:nvPr/>
        </p:nvSpPr>
        <p:spPr>
          <a:xfrm>
            <a:off x="323557" y="461110"/>
            <a:ext cx="621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Как растёт число вопросов в течение дня?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3D67CF-F3F4-E9EA-D510-7BDD60A43871}"/>
              </a:ext>
            </a:extLst>
          </p:cNvPr>
          <p:cNvSpPr txBox="1"/>
          <p:nvPr/>
        </p:nvSpPr>
        <p:spPr>
          <a:xfrm>
            <a:off x="1014705" y="4334489"/>
            <a:ext cx="7114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Колеба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ние среднего арифметического количества вопросов в течение дня</a:t>
            </a:r>
            <a:endParaRPr lang="ru-RU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D5438-A45D-F6F7-8B65-7882236FF91F}"/>
              </a:ext>
            </a:extLst>
          </p:cNvPr>
          <p:cNvSpPr txBox="1"/>
          <p:nvPr/>
        </p:nvSpPr>
        <p:spPr>
          <a:xfrm>
            <a:off x="7851332" y="1592780"/>
            <a:ext cx="4705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46927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sz="1400" dirty="0">
              <a:solidFill>
                <a:srgbClr val="46927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 descr="Изображение выглядит как Шрифт, Графика, типография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95ED794-37BD-B559-A522-6A5A1AB1A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3342" y="302722"/>
            <a:ext cx="1347769" cy="1347769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линия, диаграмма, График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198E231-94A3-0ABB-6774-1CB654ED48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73" t="92070" r="36053" b="1294"/>
          <a:stretch/>
        </p:blipFill>
        <p:spPr>
          <a:xfrm>
            <a:off x="1065105" y="1015257"/>
            <a:ext cx="4120505" cy="44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40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5746"/>
            <a:ext cx="2990850" cy="5143500"/>
          </a:xfrm>
          <a:prstGeom prst="rect">
            <a:avLst/>
          </a:prstGeom>
        </p:spPr>
      </p:pic>
      <p:pic>
        <p:nvPicPr>
          <p:cNvPr id="3" name="Рисунок 2" descr="Изображение выглядит как диаграмма, линия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9BDC844-84FE-F039-F5BA-7E5F818BD8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170"/>
          <a:stretch/>
        </p:blipFill>
        <p:spPr>
          <a:xfrm>
            <a:off x="613830" y="938442"/>
            <a:ext cx="7625828" cy="3266358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C4D1-C72E-C707-A5E3-CB67618533B5}"/>
              </a:ext>
            </a:extLst>
          </p:cNvPr>
          <p:cNvSpPr txBox="1"/>
          <p:nvPr/>
        </p:nvSpPr>
        <p:spPr>
          <a:xfrm>
            <a:off x="323557" y="461110"/>
            <a:ext cx="621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Как растёт число вопросов в течение дня?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3D67CF-F3F4-E9EA-D510-7BDD60A43871}"/>
              </a:ext>
            </a:extLst>
          </p:cNvPr>
          <p:cNvSpPr txBox="1"/>
          <p:nvPr/>
        </p:nvSpPr>
        <p:spPr>
          <a:xfrm>
            <a:off x="1014705" y="4343836"/>
            <a:ext cx="7114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Колеба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ние дисперсии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в течение дня</a:t>
            </a:r>
            <a:endParaRPr lang="ru-RU" sz="16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D5438-A45D-F6F7-8B65-7882236FF91F}"/>
              </a:ext>
            </a:extLst>
          </p:cNvPr>
          <p:cNvSpPr txBox="1"/>
          <p:nvPr/>
        </p:nvSpPr>
        <p:spPr>
          <a:xfrm>
            <a:off x="7851332" y="1592780"/>
            <a:ext cx="4705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46927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sz="1400" dirty="0">
              <a:solidFill>
                <a:srgbClr val="46927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 descr="Изображение выглядит как Шрифт, Графика, типография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95ED794-37BD-B559-A522-6A5A1AB1A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3342" y="302722"/>
            <a:ext cx="1347769" cy="1347769"/>
          </a:xfrm>
          <a:prstGeom prst="rect">
            <a:avLst/>
          </a:prstGeom>
        </p:spPr>
      </p:pic>
      <p:pic>
        <p:nvPicPr>
          <p:cNvPr id="6" name="Рисунок 5" descr="Изображение выглядит как диаграмма, линия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66788CB-EFB9-DE15-A2D9-B7010DACE6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422" t="92705" r="37334" b="2992"/>
          <a:stretch/>
        </p:blipFill>
        <p:spPr>
          <a:xfrm>
            <a:off x="1072799" y="960099"/>
            <a:ext cx="4399201" cy="33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6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5746"/>
            <a:ext cx="2990850" cy="5143500"/>
          </a:xfrm>
          <a:prstGeom prst="rect">
            <a:avLst/>
          </a:prstGeom>
        </p:spPr>
      </p:pic>
      <p:pic>
        <p:nvPicPr>
          <p:cNvPr id="9" name="Рисунок 8" descr="Изображение выглядит как снимок экрана, прямоугольный, Прямоугольник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E9880B4-B64E-F2A1-4F70-D72E8F1313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6699"/>
          <a:stretch/>
        </p:blipFill>
        <p:spPr>
          <a:xfrm>
            <a:off x="161778" y="1263861"/>
            <a:ext cx="8820443" cy="140703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снимок экрана, прямоугольный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44C769D-E6F6-6551-11F8-50648375E5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6699"/>
          <a:stretch/>
        </p:blipFill>
        <p:spPr>
          <a:xfrm>
            <a:off x="161779" y="2881775"/>
            <a:ext cx="8820444" cy="1407034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C4D1-C72E-C707-A5E3-CB67618533B5}"/>
              </a:ext>
            </a:extLst>
          </p:cNvPr>
          <p:cNvSpPr txBox="1"/>
          <p:nvPr/>
        </p:nvSpPr>
        <p:spPr>
          <a:xfrm>
            <a:off x="323557" y="461110"/>
            <a:ext cx="621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Насколько сезонны вопросы (дни недели)?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D5438-A45D-F6F7-8B65-7882236FF91F}"/>
              </a:ext>
            </a:extLst>
          </p:cNvPr>
          <p:cNvSpPr txBox="1"/>
          <p:nvPr/>
        </p:nvSpPr>
        <p:spPr>
          <a:xfrm>
            <a:off x="7081712" y="258772"/>
            <a:ext cx="4705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46927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sz="1400" dirty="0">
              <a:solidFill>
                <a:srgbClr val="46927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 descr="Изображение выглядит как Шрифт, Графика, типография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95ED794-37BD-B559-A522-6A5A1AB1AF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8625" y="281292"/>
            <a:ext cx="861818" cy="8618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5C33AC8-8518-7E78-3B76-931852E3A5FE}"/>
              </a:ext>
            </a:extLst>
          </p:cNvPr>
          <p:cNvSpPr txBox="1"/>
          <p:nvPr/>
        </p:nvSpPr>
        <p:spPr>
          <a:xfrm>
            <a:off x="1014703" y="4422447"/>
            <a:ext cx="7114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Количество вопросов по каждому тегу в тече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ие 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едели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2F7782-C47E-0BEA-34F7-AB97D55C0371}"/>
              </a:ext>
            </a:extLst>
          </p:cNvPr>
          <p:cNvSpPr txBox="1"/>
          <p:nvPr/>
        </p:nvSpPr>
        <p:spPr>
          <a:xfrm>
            <a:off x="323557" y="260941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sqlite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C0130-F1EA-6A11-0331-AA4E0A6085BA}"/>
              </a:ext>
            </a:extLst>
          </p:cNvPr>
          <p:cNvSpPr txBox="1"/>
          <p:nvPr/>
        </p:nvSpPr>
        <p:spPr>
          <a:xfrm>
            <a:off x="323557" y="95608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postgre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1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5746"/>
            <a:ext cx="2990850" cy="5143500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C4D1-C72E-C707-A5E3-CB67618533B5}"/>
              </a:ext>
            </a:extLst>
          </p:cNvPr>
          <p:cNvSpPr txBox="1"/>
          <p:nvPr/>
        </p:nvSpPr>
        <p:spPr>
          <a:xfrm>
            <a:off x="323557" y="461110"/>
            <a:ext cx="621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Насколько сезонны вопросы (дни недели)?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D5438-A45D-F6F7-8B65-7882236FF91F}"/>
              </a:ext>
            </a:extLst>
          </p:cNvPr>
          <p:cNvSpPr txBox="1"/>
          <p:nvPr/>
        </p:nvSpPr>
        <p:spPr>
          <a:xfrm>
            <a:off x="7081712" y="258772"/>
            <a:ext cx="4705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46927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sz="1400" dirty="0">
              <a:solidFill>
                <a:srgbClr val="46927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 descr="Изображение выглядит как Шрифт, Графика, типография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95ED794-37BD-B559-A522-6A5A1AB1AF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625" y="281292"/>
            <a:ext cx="861818" cy="861818"/>
          </a:xfrm>
          <a:prstGeom prst="rect">
            <a:avLst/>
          </a:prstGeom>
        </p:spPr>
      </p:pic>
      <p:pic>
        <p:nvPicPr>
          <p:cNvPr id="2" name="Рисунок 1" descr="Изображение выглядит как снимок экрана, Прямоугольник, линия, прямоуго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7B6C84E-E49C-BA12-75D6-533F16C6A1F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66611"/>
          <a:stretch/>
        </p:blipFill>
        <p:spPr>
          <a:xfrm>
            <a:off x="154584" y="1155587"/>
            <a:ext cx="8834831" cy="1497117"/>
          </a:xfrm>
          <a:prstGeom prst="rect">
            <a:avLst/>
          </a:prstGeom>
        </p:spPr>
      </p:pic>
      <p:pic>
        <p:nvPicPr>
          <p:cNvPr id="3" name="Рисунок 2" descr="Изображение выглядит как снимок экрана, прямоугольный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BF0705F-E812-DCA6-8AB0-46E66E54414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66916"/>
          <a:stretch/>
        </p:blipFill>
        <p:spPr>
          <a:xfrm>
            <a:off x="154584" y="2918298"/>
            <a:ext cx="8795880" cy="14971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1DA777-224C-858F-6B33-C430BDC85942}"/>
              </a:ext>
            </a:extLst>
          </p:cNvPr>
          <p:cNvSpPr txBox="1"/>
          <p:nvPr/>
        </p:nvSpPr>
        <p:spPr>
          <a:xfrm>
            <a:off x="323557" y="260348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mysql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5D4894-067B-B0DC-E12A-C0463EEE86E2}"/>
              </a:ext>
            </a:extLst>
          </p:cNvPr>
          <p:cNvSpPr txBox="1"/>
          <p:nvPr/>
        </p:nvSpPr>
        <p:spPr>
          <a:xfrm>
            <a:off x="323557" y="8704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sql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2929E-2047-AEBF-F44F-73723C8FD307}"/>
              </a:ext>
            </a:extLst>
          </p:cNvPr>
          <p:cNvSpPr txBox="1"/>
          <p:nvPr/>
        </p:nvSpPr>
        <p:spPr>
          <a:xfrm>
            <a:off x="1014703" y="4422447"/>
            <a:ext cx="7114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Количество вопросов по каждому тегу в тече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ие </a:t>
            </a:r>
            <a:r>
              <a:rPr lang="ru-RU" sz="1600" kern="1200" dirty="0">
                <a:solidFill>
                  <a:srgbClr val="000000"/>
                </a:solidFill>
                <a:effectLst/>
                <a:latin typeface="Cascadia Code Light" panose="020B0609020000020004" pitchFamily="49" charset="0"/>
                <a:cs typeface="Cascadia Code Light" panose="020B0609020000020004" pitchFamily="49" charset="0"/>
              </a:rPr>
              <a:t>н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едели</a:t>
            </a:r>
          </a:p>
        </p:txBody>
      </p:sp>
    </p:spTree>
    <p:extLst>
      <p:ext uri="{BB962C8B-B14F-4D97-AF65-F5344CB8AC3E}">
        <p14:creationId xmlns:p14="http://schemas.microsoft.com/office/powerpoint/2010/main" val="1308612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5746"/>
            <a:ext cx="2990850" cy="5143500"/>
          </a:xfrm>
          <a:prstGeom prst="rect">
            <a:avLst/>
          </a:prstGeom>
        </p:spPr>
      </p:pic>
      <p:pic>
        <p:nvPicPr>
          <p:cNvPr id="9" name="Рисунок 8" descr="Изображение выглядит как снимок экрана, линия, текст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973B20F-29CE-DC47-20CC-90A228275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04" y="924924"/>
            <a:ext cx="7416000" cy="3426815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C4D1-C72E-C707-A5E3-CB67618533B5}"/>
              </a:ext>
            </a:extLst>
          </p:cNvPr>
          <p:cNvSpPr txBox="1"/>
          <p:nvPr/>
        </p:nvSpPr>
        <p:spPr>
          <a:xfrm>
            <a:off x="323557" y="461110"/>
            <a:ext cx="7927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Какие теги наиболее популярны?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3D67CF-F3F4-E9EA-D510-7BDD60A43871}"/>
              </a:ext>
            </a:extLst>
          </p:cNvPr>
          <p:cNvSpPr txBox="1"/>
          <p:nvPr/>
        </p:nvSpPr>
        <p:spPr>
          <a:xfrm>
            <a:off x="1202636" y="4460778"/>
            <a:ext cx="7114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Среднее арифметическое количество вопросов в сутки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D5438-A45D-F6F7-8B65-7882236FF91F}"/>
              </a:ext>
            </a:extLst>
          </p:cNvPr>
          <p:cNvSpPr txBox="1"/>
          <p:nvPr/>
        </p:nvSpPr>
        <p:spPr>
          <a:xfrm>
            <a:off x="7851332" y="1592780"/>
            <a:ext cx="4705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46927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sz="1400" dirty="0">
              <a:solidFill>
                <a:srgbClr val="46927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 descr="Изображение выглядит как Шрифт, Графика, типография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95ED794-37BD-B559-A522-6A5A1AB1A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3342" y="302722"/>
            <a:ext cx="1347769" cy="1347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C36414-EB4C-2913-EB5A-E710607D5756}"/>
              </a:ext>
            </a:extLst>
          </p:cNvPr>
          <p:cNvSpPr txBox="1"/>
          <p:nvPr/>
        </p:nvSpPr>
        <p:spPr>
          <a:xfrm>
            <a:off x="1861160" y="409276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mysql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81E1FC-0326-0F69-B9EB-D55EDB0BF370}"/>
              </a:ext>
            </a:extLst>
          </p:cNvPr>
          <p:cNvSpPr txBox="1"/>
          <p:nvPr/>
        </p:nvSpPr>
        <p:spPr>
          <a:xfrm>
            <a:off x="3331160" y="41010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postgresql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8B3BD1-57A7-2625-5FE2-E29E438469B0}"/>
              </a:ext>
            </a:extLst>
          </p:cNvPr>
          <p:cNvSpPr txBox="1"/>
          <p:nvPr/>
        </p:nvSpPr>
        <p:spPr>
          <a:xfrm>
            <a:off x="5440016" y="409809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sql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BD7C0-E861-B8F2-3431-3FBAFD11A682}"/>
              </a:ext>
            </a:extLst>
          </p:cNvPr>
          <p:cNvSpPr txBox="1"/>
          <p:nvPr/>
        </p:nvSpPr>
        <p:spPr>
          <a:xfrm>
            <a:off x="7038724" y="410756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sqlite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9839A3-B6CA-70E8-81B7-36025B059378}"/>
              </a:ext>
            </a:extLst>
          </p:cNvPr>
          <p:cNvSpPr txBox="1"/>
          <p:nvPr/>
        </p:nvSpPr>
        <p:spPr>
          <a:xfrm>
            <a:off x="1045160" y="400625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0</a:t>
            </a:r>
            <a:endParaRPr lang="ru-RU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7B1774-59DE-E5E8-3169-D4888F01C37B}"/>
              </a:ext>
            </a:extLst>
          </p:cNvPr>
          <p:cNvSpPr txBox="1"/>
          <p:nvPr/>
        </p:nvSpPr>
        <p:spPr>
          <a:xfrm>
            <a:off x="771560" y="317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0</a:t>
            </a:r>
            <a:r>
              <a:rPr lang="en-US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,75</a:t>
            </a:r>
            <a:endParaRPr lang="ru-RU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18203C-E2B4-31A3-326A-5784D1314B5E}"/>
              </a:ext>
            </a:extLst>
          </p:cNvPr>
          <p:cNvSpPr txBox="1"/>
          <p:nvPr/>
        </p:nvSpPr>
        <p:spPr>
          <a:xfrm>
            <a:off x="868016" y="119312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2,5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736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еле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3753B9-5F5D-C21A-4163-D056909B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15746"/>
            <a:ext cx="2990850" cy="5143500"/>
          </a:xfrm>
          <a:prstGeom prst="rect">
            <a:avLst/>
          </a:prstGeom>
        </p:spPr>
      </p:pic>
      <p:pic>
        <p:nvPicPr>
          <p:cNvPr id="3" name="Рисунок 2" descr="Изображение выглядит как линия, диаграмма, График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2A082B5-90DD-7027-2947-DD7077447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46" y="837820"/>
            <a:ext cx="7659111" cy="3538493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4D70674-7737-AE94-19B9-8D6BAF93B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4953000"/>
            <a:ext cx="8763000" cy="21431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D1FF9FB-4CF9-AA5C-E1F9-9CD3855AE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90500"/>
            <a:ext cx="8763000" cy="21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5C4D1-C72E-C707-A5E3-CB67618533B5}"/>
              </a:ext>
            </a:extLst>
          </p:cNvPr>
          <p:cNvSpPr txBox="1"/>
          <p:nvPr/>
        </p:nvSpPr>
        <p:spPr>
          <a:xfrm>
            <a:off x="323557" y="461110"/>
            <a:ext cx="7927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Из какого региона больше всего вопросов?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3D67CF-F3F4-E9EA-D510-7BDD60A43871}"/>
              </a:ext>
            </a:extLst>
          </p:cNvPr>
          <p:cNvSpPr txBox="1"/>
          <p:nvPr/>
        </p:nvSpPr>
        <p:spPr>
          <a:xfrm>
            <a:off x="1202636" y="4460778"/>
            <a:ext cx="71145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Количество вопросов за 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6 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месяцев для топ-</a:t>
            </a:r>
            <a:r>
              <a:rPr lang="en-US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</a:t>
            </a:r>
            <a:r>
              <a:rPr lang="ru-RU" sz="16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0 стран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6D5438-A45D-F6F7-8B65-7882236FF91F}"/>
              </a:ext>
            </a:extLst>
          </p:cNvPr>
          <p:cNvSpPr txBox="1"/>
          <p:nvPr/>
        </p:nvSpPr>
        <p:spPr>
          <a:xfrm>
            <a:off x="7994581" y="1285003"/>
            <a:ext cx="4705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46927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Дашборд</a:t>
            </a:r>
            <a:endParaRPr lang="ru-RU" sz="1400" dirty="0">
              <a:solidFill>
                <a:srgbClr val="46927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8" name="Рисунок 27" descr="Изображение выглядит как Шрифт, Графика, типография, графический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95ED794-37BD-B559-A522-6A5A1AB1AF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7311" y="302723"/>
            <a:ext cx="1083800" cy="108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711790-6B9B-0E24-77AC-F14A2BA7D765}"/>
              </a:ext>
            </a:extLst>
          </p:cNvPr>
          <p:cNvSpPr txBox="1"/>
          <p:nvPr/>
        </p:nvSpPr>
        <p:spPr>
          <a:xfrm>
            <a:off x="7333924" y="391042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US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9903E-EDD1-EA2A-CA2D-4FD6A1714A0B}"/>
              </a:ext>
            </a:extLst>
          </p:cNvPr>
          <p:cNvSpPr txBox="1"/>
          <p:nvPr/>
        </p:nvSpPr>
        <p:spPr>
          <a:xfrm>
            <a:off x="3562324" y="386290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India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91D212-3052-2B74-E4C3-23AC0E3AD73A}"/>
              </a:ext>
            </a:extLst>
          </p:cNvPr>
          <p:cNvSpPr txBox="1"/>
          <p:nvPr/>
        </p:nvSpPr>
        <p:spPr>
          <a:xfrm>
            <a:off x="6953219" y="390911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UK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6BA4AE-5E6C-2E05-5D3D-9941C2E80955}"/>
              </a:ext>
            </a:extLst>
          </p:cNvPr>
          <p:cNvSpPr txBox="1"/>
          <p:nvPr/>
        </p:nvSpPr>
        <p:spPr>
          <a:xfrm>
            <a:off x="6031226" y="390513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Russia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05AF34-175A-CDE4-7C6F-D2DF2BAEA55D}"/>
              </a:ext>
            </a:extLst>
          </p:cNvPr>
          <p:cNvSpPr txBox="1"/>
          <p:nvPr/>
        </p:nvSpPr>
        <p:spPr>
          <a:xfrm>
            <a:off x="187931" y="114855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40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AF5560-5DF9-BC80-0A6D-2B023AFA567A}"/>
              </a:ext>
            </a:extLst>
          </p:cNvPr>
          <p:cNvSpPr txBox="1"/>
          <p:nvPr/>
        </p:nvSpPr>
        <p:spPr>
          <a:xfrm>
            <a:off x="187931" y="243360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EBA0CF-F4F0-38A7-D74C-9B1F59BC1B99}"/>
              </a:ext>
            </a:extLst>
          </p:cNvPr>
          <p:cNvSpPr txBox="1"/>
          <p:nvPr/>
        </p:nvSpPr>
        <p:spPr>
          <a:xfrm>
            <a:off x="224775" y="37186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B97C28-A31A-F80F-CAFA-220C554C461F}"/>
              </a:ext>
            </a:extLst>
          </p:cNvPr>
          <p:cNvSpPr txBox="1"/>
          <p:nvPr/>
        </p:nvSpPr>
        <p:spPr>
          <a:xfrm>
            <a:off x="187931" y="305127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E179AA-FD50-2EF6-619D-82BF4137D87B}"/>
              </a:ext>
            </a:extLst>
          </p:cNvPr>
          <p:cNvSpPr txBox="1"/>
          <p:nvPr/>
        </p:nvSpPr>
        <p:spPr>
          <a:xfrm>
            <a:off x="187931" y="17682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Code" panose="020B0609020000020004" pitchFamily="49" charset="0"/>
                <a:cs typeface="Cascadia Code" panose="020B0609020000020004" pitchFamily="49" charset="0"/>
              </a:rPr>
              <a:t>30</a:t>
            </a:r>
            <a:endParaRPr lang="ru-RU" sz="14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25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BEC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C174CF8-30D0-BF6C-2AAB-6DE700998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487" y="-169070"/>
            <a:ext cx="3565829" cy="5556409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График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A689D88-FDCA-A8A8-DC10-419959027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4299" y="341471"/>
            <a:ext cx="3831602" cy="5259229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3961" y="513873"/>
            <a:ext cx="6716077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lang="ru-RU" sz="3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аш</a:t>
            </a:r>
            <a:r>
              <a:rPr lang="ru-RU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 репозиторий</a:t>
            </a: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endParaRPr lang="en-US" sz="33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C1A6D2C-1BF6-72FF-0454-A6571BC42B04}"/>
              </a:ext>
            </a:extLst>
          </p:cNvPr>
          <p:cNvSpPr/>
          <p:nvPr/>
        </p:nvSpPr>
        <p:spPr>
          <a:xfrm>
            <a:off x="3022119" y="1320641"/>
            <a:ext cx="2825439" cy="28956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12700">
            <a:solidFill>
              <a:srgbClr val="2626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pic>
        <p:nvPicPr>
          <p:cNvPr id="14" name="Рисунок 13" descr="Изображение выглядит как Графика, текст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4BE068-DB7D-D457-A63D-BB45F9D45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398" y="1544001"/>
            <a:ext cx="2448879" cy="24488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4188</TotalTime>
  <Words>560</Words>
  <Application>Microsoft Office PowerPoint</Application>
  <PresentationFormat>Экран (16:9)</PresentationFormat>
  <Paragraphs>175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Bahnschrift</vt:lpstr>
      <vt:lpstr>Cascadia Code</vt:lpstr>
      <vt:lpstr>Cascadia Code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Ksusha</cp:lastModifiedBy>
  <cp:revision>8</cp:revision>
  <dcterms:created xsi:type="dcterms:W3CDTF">2026-01-18T00:14:53Z</dcterms:created>
  <dcterms:modified xsi:type="dcterms:W3CDTF">2026-01-20T22:10:00Z</dcterms:modified>
</cp:coreProperties>
</file>